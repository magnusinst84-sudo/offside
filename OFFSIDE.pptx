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113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ef1d57535_125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4" name="Google Shape;54;g3eef1d57535_125_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g3eef1d57535_125_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ef1d57535_125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2" name="Google Shape;82;g3eef1d57535_125_29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g3eef1d57535_125_29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ef1d57535_125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2" name="Google Shape;102;g3eef1d57535_125_48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3eef1d57535_125_48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ef1d57535_125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3" name="Google Shape;133;g3eef1d57535_125_78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eef1d57535_125_78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ef1d57535_125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9" name="Google Shape;159;g3eef1d57535_125_10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eef1d57535_125_10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ef1d57535_125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3" name="Google Shape;183;g3eef1d57535_125_125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g3eef1d57535_125_125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ef1d57535_125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22" name="Google Shape;222;g3eef1d57535_125_204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eef1d57535_125_204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11" Type="http://schemas.openxmlformats.org/officeDocument/2006/relationships/image" Target="../media/image39.png"/><Relationship Id="rId5" Type="http://schemas.openxmlformats.org/officeDocument/2006/relationships/image" Target="../media/image34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hyperlink" Target="mailto:tanmaynair04@gmai.com" TargetMode="External"/><Relationship Id="rId10" Type="http://schemas.openxmlformats.org/officeDocument/2006/relationships/image" Target="../media/image46.png"/><Relationship Id="rId4" Type="http://schemas.openxmlformats.org/officeDocument/2006/relationships/image" Target="../media/image2.png"/><Relationship Id="rId9" Type="http://schemas.openxmlformats.org/officeDocument/2006/relationships/image" Target="../media/image45.png"/><Relationship Id="rId14" Type="http://schemas.openxmlformats.org/officeDocument/2006/relationships/hyperlink" Target="mailto:tanmay.nair2025@vitstudent.ac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5" descr="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720090"/>
            <a:ext cx="1878388" cy="1337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5" descr="/home/claude/microcraft/pix/0e968561a84c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5196" y="2228850"/>
            <a:ext cx="1685108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5"/>
          <p:cNvSpPr/>
          <p:nvPr/>
        </p:nvSpPr>
        <p:spPr>
          <a:xfrm>
            <a:off x="411480" y="2537460"/>
            <a:ext cx="5966460" cy="925830"/>
          </a:xfrm>
          <a:prstGeom prst="rect">
            <a:avLst/>
          </a:prstGeom>
          <a:solidFill>
            <a:srgbClr val="EBB931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762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411480" y="2537460"/>
            <a:ext cx="5966460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425"/>
              </a:buClr>
              <a:buSzPts val="3000"/>
              <a:buFont typeface="Arial"/>
              <a:buNone/>
            </a:pPr>
            <a:r>
              <a:rPr lang="en" sz="3000" b="1" dirty="0">
                <a:solidFill>
                  <a:srgbClr val="262425"/>
                </a:solidFill>
                <a:ea typeface="Calibri"/>
              </a:rPr>
              <a:t>OFFSIDE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411480" y="3669030"/>
            <a:ext cx="2914650" cy="78867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635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5" descr="/home/claude/microcraft/pix/5731b7bf2b8f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2930" y="3806190"/>
            <a:ext cx="411480" cy="9601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/>
          <p:nvPr/>
        </p:nvSpPr>
        <p:spPr>
          <a:xfrm>
            <a:off x="582930" y="3963924"/>
            <a:ext cx="260604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262425"/>
              </a:buClr>
              <a:buSzPts val="1400"/>
            </a:pPr>
            <a:r>
              <a:rPr lang="en" b="1" dirty="0">
                <a:solidFill>
                  <a:srgbClr val="262425"/>
                </a:solidFill>
                <a:ea typeface="Calibri"/>
              </a:rPr>
              <a:t>OFFSIDE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463290" y="3669030"/>
            <a:ext cx="2914650" cy="78867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635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5" descr="/home/claude/microcraft/pix/31d1de9bc7b8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34740" y="3806190"/>
            <a:ext cx="644652" cy="9601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/>
          <p:nvPr/>
        </p:nvSpPr>
        <p:spPr>
          <a:xfrm>
            <a:off x="3634740" y="3963924"/>
            <a:ext cx="260604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262425"/>
              </a:buClr>
              <a:buSzPts val="1400"/>
            </a:pPr>
            <a:r>
              <a:rPr lang="en" b="1" dirty="0">
                <a:solidFill>
                  <a:srgbClr val="262425"/>
                </a:solidFill>
                <a:ea typeface="Calibri"/>
              </a:rPr>
              <a:t>Open Innovation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6686550" y="720090"/>
            <a:ext cx="2057400" cy="3737610"/>
          </a:xfrm>
          <a:prstGeom prst="rect">
            <a:avLst/>
          </a:prstGeom>
          <a:solidFill>
            <a:srgbClr val="262425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762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5" descr="/home/claude/microcraft/pix/46a500d0174c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98030" y="1028700"/>
            <a:ext cx="123444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38060" y="1440180"/>
            <a:ext cx="754380" cy="754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descr="/home/claude/microcraft/pix/7de9ec6875d8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116644" y="2400300"/>
            <a:ext cx="1197211" cy="17830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6960870" y="2983230"/>
            <a:ext cx="1508760" cy="514350"/>
          </a:xfrm>
          <a:prstGeom prst="rect">
            <a:avLst/>
          </a:prstGeom>
          <a:solidFill>
            <a:srgbClr val="2F6F3A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6960870" y="2983230"/>
            <a:ext cx="15087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PRESS START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15" descr="/home/claude/microcraft/pix/80be5736a9bb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974586" y="3806190"/>
            <a:ext cx="1481328" cy="82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" name="Google Shape;74;p15"/>
          <p:cNvCxnSpPr/>
          <p:nvPr/>
        </p:nvCxnSpPr>
        <p:spPr>
          <a:xfrm>
            <a:off x="411480" y="4766310"/>
            <a:ext cx="8318754" cy="0"/>
          </a:xfrm>
          <a:prstGeom prst="straightConnector1">
            <a:avLst/>
          </a:prstGeom>
          <a:noFill/>
          <a:ln w="19050" cap="flat" cmpd="sng">
            <a:solidFill>
              <a:srgbClr val="DDDDE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5" name="Google Shape;75;p15" descr="/home/claude/microcraft/pix/cdc0c8bb52e6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11480" y="4848606"/>
            <a:ext cx="3235016" cy="89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078724" y="4834890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98180" y="4834890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517636" y="4834890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 title="unnamed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289875" y="1011574"/>
            <a:ext cx="4263950" cy="75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 descr="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190" y="308610"/>
            <a:ext cx="597231" cy="425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 descr="/home/claude/microcraft/pix/d8ebcde23a17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97615" y="411480"/>
            <a:ext cx="1032619" cy="116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 descr="/home/claude/microcraft/pix/00817eb36a58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1480" y="994410"/>
            <a:ext cx="4212772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/>
          <p:nvPr/>
        </p:nvSpPr>
        <p:spPr>
          <a:xfrm>
            <a:off x="425196" y="147447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74"/>
              </a:buClr>
              <a:buSzPts val="1200"/>
              <a:buFont typeface="Calibri"/>
              <a:buNone/>
            </a:pPr>
            <a:r>
              <a:rPr lang="en" sz="1200" b="0" i="1" u="none" strike="noStrike" cap="none" dirty="0">
                <a:solidFill>
                  <a:srgbClr val="6E6E74"/>
                </a:solidFill>
                <a:latin typeface="Calibri"/>
                <a:ea typeface="Calibri"/>
                <a:cs typeface="Calibri"/>
                <a:sym typeface="Calibri"/>
              </a:rPr>
              <a:t>What are you looking to solve?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411480" y="1954530"/>
            <a:ext cx="5212080" cy="246888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635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802386" y="2621470"/>
            <a:ext cx="4732020" cy="127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425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Football  fans, analysts and coaches consume match data passively , scorelines tell you nothing about why a game is turning .Existing platforms like SofaScore , FotMob show statistics but offer zero tactical intelligence , no predictive analysis and no explanation of momentum shifts as they happen. </a:t>
            </a:r>
          </a:p>
        </p:txBody>
      </p:sp>
      <p:sp>
        <p:nvSpPr>
          <p:cNvPr id="91" name="Google Shape;91;p16"/>
          <p:cNvSpPr/>
          <p:nvPr/>
        </p:nvSpPr>
        <p:spPr>
          <a:xfrm>
            <a:off x="5863590" y="1954530"/>
            <a:ext cx="2880360" cy="2468880"/>
          </a:xfrm>
          <a:prstGeom prst="rect">
            <a:avLst/>
          </a:prstGeom>
          <a:solidFill>
            <a:srgbClr val="EA4E25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762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92;p16" descr="/home/claude/microcraft/pix/108456694e0f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69330" y="2160270"/>
            <a:ext cx="1209947" cy="8915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/>
          <p:nvPr/>
        </p:nvSpPr>
        <p:spPr>
          <a:xfrm>
            <a:off x="6035040" y="2366010"/>
            <a:ext cx="2537460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700"/>
              <a:buFont typeface="Arial"/>
              <a:buNone/>
            </a:pPr>
            <a:r>
              <a:rPr lang="en" sz="4700" b="1" dirty="0">
                <a:solidFill>
                  <a:srgbClr val="FFFFFF"/>
                </a:solidFill>
                <a:ea typeface="Calibri"/>
              </a:rPr>
              <a:t>65%</a:t>
            </a:r>
            <a:endParaRPr lang="en" sz="4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6069330" y="3326130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FFE9E1"/>
              </a:buClr>
              <a:buSzPts val="1000"/>
            </a:pPr>
            <a:r>
              <a:rPr lang="en" sz="1100" dirty="0">
                <a:solidFill>
                  <a:schemeClr val="bg1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n-IN" sz="1100" dirty="0">
                <a:solidFill>
                  <a:schemeClr val="bg1"/>
                </a:solidFill>
                <a:latin typeface="+mn-lt"/>
              </a:rPr>
              <a:t>of football fans say they don't understand why momentum shifts during a match(Nielsen Sports Fan engagement surveys)</a:t>
            </a:r>
            <a:endParaRPr sz="1100" b="0" i="0" u="none" strike="noStrike" cap="none" dirty="0">
              <a:solidFill>
                <a:schemeClr val="bg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6"/>
          <p:cNvCxnSpPr/>
          <p:nvPr/>
        </p:nvCxnSpPr>
        <p:spPr>
          <a:xfrm>
            <a:off x="411480" y="4766310"/>
            <a:ext cx="8318754" cy="0"/>
          </a:xfrm>
          <a:prstGeom prst="straightConnector1">
            <a:avLst/>
          </a:prstGeom>
          <a:noFill/>
          <a:ln w="19050" cap="flat" cmpd="sng">
            <a:solidFill>
              <a:srgbClr val="DDDDE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6" name="Google Shape;96;p16" descr="/home/claude/microcraft/pix/409418d5e180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1480" y="4848606"/>
            <a:ext cx="2114224" cy="89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78724" y="4834890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98180" y="4834890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7636" y="4834890"/>
            <a:ext cx="137160" cy="137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7" descr="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190" y="308610"/>
            <a:ext cx="597231" cy="425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 descr="/home/claude/microcraft/pix/ae315314b8b8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97615" y="411480"/>
            <a:ext cx="1032619" cy="116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 descr="/home/claude/microcraft/pix/f1c4a5b8a234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1480" y="994410"/>
            <a:ext cx="30861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/>
          <p:nvPr/>
        </p:nvSpPr>
        <p:spPr>
          <a:xfrm>
            <a:off x="425196" y="1474470"/>
            <a:ext cx="6172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74"/>
              </a:buClr>
              <a:buSzPts val="1200"/>
              <a:buFont typeface="Calibri"/>
              <a:buNone/>
            </a:pPr>
            <a:r>
              <a:rPr lang="en" sz="1200" b="0" i="1" u="none" strike="noStrike" cap="none">
                <a:solidFill>
                  <a:srgbClr val="6E6E74"/>
                </a:solidFill>
                <a:latin typeface="Calibri"/>
                <a:ea typeface="Calibri"/>
                <a:cs typeface="Calibri"/>
                <a:sym typeface="Calibri"/>
              </a:rPr>
              <a:t>How does your product solve it?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411480" y="1954530"/>
            <a:ext cx="8318754" cy="925830"/>
          </a:xfrm>
          <a:prstGeom prst="rect">
            <a:avLst/>
          </a:prstGeom>
          <a:solidFill>
            <a:srgbClr val="2570BD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762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651510" y="1954530"/>
            <a:ext cx="7818120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" sz="1600" b="1" dirty="0">
                <a:solidFill>
                  <a:srgbClr val="FFFFFF"/>
                </a:solidFill>
                <a:ea typeface="Calibri"/>
              </a:rPr>
              <a:t>OFFSIDE gives you a real time AI war room where you don’t just watch the match  you operate it . 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411480" y="3120390"/>
            <a:ext cx="2626614" cy="13030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635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617220" y="3326130"/>
            <a:ext cx="425196" cy="425196"/>
          </a:xfrm>
          <a:prstGeom prst="rect">
            <a:avLst/>
          </a:prstGeom>
          <a:solidFill>
            <a:srgbClr val="EA4E25"/>
          </a:solidFill>
          <a:ln w="3175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" name="Google Shape;113;p1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0763" y="3419673"/>
            <a:ext cx="238110" cy="238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 descr="/home/claude/microcraft/pix/a091a692010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00150" y="3429000"/>
            <a:ext cx="546680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/>
          <p:nvPr/>
        </p:nvSpPr>
        <p:spPr>
          <a:xfrm>
            <a:off x="766082" y="3878962"/>
            <a:ext cx="22288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E6E74"/>
              </a:buClr>
              <a:buSzPts val="1000"/>
              <a:buFont typeface="Calibri"/>
              <a:buNone/>
            </a:pPr>
            <a:r>
              <a:rPr lang="en" sz="1100" dirty="0">
                <a:solidFill>
                  <a:srgbClr val="6E6E74"/>
                </a:solidFill>
                <a:latin typeface="+mn-lt"/>
                <a:ea typeface="Calibri"/>
                <a:cs typeface="Calibri"/>
                <a:sym typeface="Calibri"/>
              </a:rPr>
              <a:t>Live momentum score using our own XGBoost model </a:t>
            </a:r>
            <a:endParaRPr sz="11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3188970" y="3120390"/>
            <a:ext cx="2626614" cy="13030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635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3394710" y="3326130"/>
            <a:ext cx="425196" cy="425196"/>
          </a:xfrm>
          <a:prstGeom prst="rect">
            <a:avLst/>
          </a:prstGeom>
          <a:solidFill>
            <a:srgbClr val="2F6F3A"/>
          </a:solidFill>
          <a:ln w="3175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" name="Google Shape;118;p1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88253" y="3419673"/>
            <a:ext cx="238110" cy="238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 descr="/home/claude/microcraft/pix/5efc6e3056c5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77640" y="3429000"/>
            <a:ext cx="687760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>
            <a:off x="3261578" y="3854196"/>
            <a:ext cx="2554006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E6E74"/>
              </a:buClr>
              <a:buSzPts val="1000"/>
              <a:buFont typeface="Calibri"/>
              <a:buNone/>
            </a:pPr>
            <a:r>
              <a:rPr lang="en" sz="1100" b="0" i="0" u="none" strike="noStrike" cap="none" dirty="0">
                <a:solidFill>
                  <a:srgbClr val="6E6E74"/>
                </a:solidFill>
                <a:latin typeface="+mn-lt"/>
                <a:ea typeface="Calibri"/>
                <a:cs typeface="Calibri"/>
                <a:sym typeface="Calibri"/>
              </a:rPr>
              <a:t>Gemini AI  generates tactical analysis and substitution predictions mid-match </a:t>
            </a:r>
            <a:endParaRPr sz="11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5966460" y="3120390"/>
            <a:ext cx="2626614" cy="13030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635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6172200" y="3326130"/>
            <a:ext cx="425196" cy="425196"/>
          </a:xfrm>
          <a:prstGeom prst="rect">
            <a:avLst/>
          </a:prstGeom>
          <a:solidFill>
            <a:srgbClr val="EBB931"/>
          </a:solidFill>
          <a:ln w="3175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" name="Google Shape;123;p1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265743" y="3419673"/>
            <a:ext cx="238110" cy="238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 descr="/home/claude/microcraft/pix/f12cc258b634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755130" y="3429000"/>
            <a:ext cx="687760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6189944" y="3960496"/>
            <a:ext cx="22288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E6E74"/>
              </a:buClr>
              <a:buSzPts val="1000"/>
              <a:buFont typeface="Calibri"/>
              <a:buNone/>
            </a:pPr>
            <a:r>
              <a:rPr lang="en" sz="1100" dirty="0">
                <a:solidFill>
                  <a:srgbClr val="6E6E74"/>
                </a:solidFill>
                <a:latin typeface="+mn-lt"/>
                <a:ea typeface="Calibri"/>
                <a:cs typeface="Calibri"/>
                <a:sym typeface="Calibri"/>
              </a:rPr>
              <a:t>Any user picks a live match and gets broadcast level intelligence</a:t>
            </a:r>
            <a:endParaRPr sz="11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7"/>
          <p:cNvCxnSpPr/>
          <p:nvPr/>
        </p:nvCxnSpPr>
        <p:spPr>
          <a:xfrm>
            <a:off x="411480" y="4766310"/>
            <a:ext cx="8318754" cy="0"/>
          </a:xfrm>
          <a:prstGeom prst="straightConnector1">
            <a:avLst/>
          </a:prstGeom>
          <a:noFill/>
          <a:ln w="19050" cap="flat" cmpd="sng">
            <a:solidFill>
              <a:srgbClr val="DDDDE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7" name="Google Shape;127;p17" descr="/home/claude/microcraft/pix/17dab66df8f6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11480" y="4848606"/>
            <a:ext cx="2623675" cy="89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078724" y="4834890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298180" y="4834890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517636" y="4834890"/>
            <a:ext cx="137160" cy="137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 descr="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190" y="308610"/>
            <a:ext cx="597231" cy="425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 descr="/home/claude/microcraft/pix/959c3dfdf26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97615" y="411480"/>
            <a:ext cx="1032619" cy="116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 descr="/home/claude/microcraft/pix/c6ae7aaeb96a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1480" y="994410"/>
            <a:ext cx="4653643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/>
          <p:nvPr/>
        </p:nvSpPr>
        <p:spPr>
          <a:xfrm>
            <a:off x="960120" y="2023110"/>
            <a:ext cx="4251960" cy="582930"/>
          </a:xfrm>
          <a:prstGeom prst="rect">
            <a:avLst/>
          </a:prstGeom>
          <a:solidFill>
            <a:srgbClr val="EA4E25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635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1011576" y="2012442"/>
            <a:ext cx="4251960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rgbClr val="FFFFFF"/>
              </a:buClr>
              <a:buSzPts val="1400"/>
            </a:pPr>
            <a:r>
              <a:rPr lang="en-IN" b="1" dirty="0">
                <a:solidFill>
                  <a:schemeClr val="bg1"/>
                </a:solidFill>
              </a:rPr>
              <a:t>Live match data ingested via API-Football (formations, </a:t>
            </a:r>
            <a:r>
              <a:rPr lang="en-IN" b="1" dirty="0" err="1">
                <a:solidFill>
                  <a:schemeClr val="bg1"/>
                </a:solidFill>
              </a:rPr>
              <a:t>xG</a:t>
            </a:r>
            <a:r>
              <a:rPr lang="en-IN" b="1" dirty="0">
                <a:solidFill>
                  <a:schemeClr val="bg1"/>
                </a:solidFill>
              </a:rPr>
              <a:t>, possession, shots, pressure)</a:t>
            </a:r>
            <a:endParaRPr sz="14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74920" y="24003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/>
          <p:nvPr/>
        </p:nvSpPr>
        <p:spPr>
          <a:xfrm>
            <a:off x="2023110" y="2688336"/>
            <a:ext cx="4251960" cy="582930"/>
          </a:xfrm>
          <a:prstGeom prst="rect">
            <a:avLst/>
          </a:prstGeom>
          <a:solidFill>
            <a:srgbClr val="2F6F3A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635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2023110" y="2688336"/>
            <a:ext cx="4251960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rgbClr val="FFFFFF"/>
              </a:buClr>
              <a:buSzPts val="1400"/>
            </a:pPr>
            <a:r>
              <a:rPr lang="en-IN" sz="1200" b="1" dirty="0">
                <a:solidFill>
                  <a:schemeClr val="bg1"/>
                </a:solidFill>
              </a:rPr>
              <a:t>XGBoost model computes our original Momentum Score composite of shots, possession delta, press intensity, dangerous attacks</a:t>
            </a:r>
            <a:endParaRPr sz="12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37910" y="3065526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/>
          <p:nvPr/>
        </p:nvSpPr>
        <p:spPr>
          <a:xfrm>
            <a:off x="3086100" y="3353562"/>
            <a:ext cx="4251960" cy="582930"/>
          </a:xfrm>
          <a:prstGeom prst="rect">
            <a:avLst/>
          </a:prstGeom>
          <a:solidFill>
            <a:srgbClr val="2570BD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635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3086100" y="3353562"/>
            <a:ext cx="4251960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rgbClr val="FFFFFF"/>
              </a:buClr>
              <a:buSzPts val="1400"/>
            </a:pPr>
            <a:r>
              <a:rPr lang="en-IN" sz="1200" b="1" dirty="0">
                <a:solidFill>
                  <a:schemeClr val="bg1"/>
                </a:solidFill>
              </a:rPr>
              <a:t>Gemini API generates tactical analysis, AI commentary in 4 personalities, substitution predictions</a:t>
            </a:r>
            <a:endParaRPr sz="12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00900" y="373075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/>
          <p:nvPr/>
        </p:nvSpPr>
        <p:spPr>
          <a:xfrm>
            <a:off x="4149090" y="4018788"/>
            <a:ext cx="4251960" cy="582930"/>
          </a:xfrm>
          <a:prstGeom prst="rect">
            <a:avLst/>
          </a:prstGeom>
          <a:solidFill>
            <a:srgbClr val="EBB931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635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4149090" y="4018788"/>
            <a:ext cx="4251960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rgbClr val="262425"/>
              </a:buClr>
              <a:buSzPts val="1400"/>
            </a:pPr>
            <a:r>
              <a:rPr lang="en-IN" sz="1200" b="1" dirty="0">
                <a:solidFill>
                  <a:schemeClr val="bg1"/>
                </a:solidFill>
              </a:rPr>
              <a:t>War Room dashboard renders -  live pitch visualization,  Player DNA cards, full analyst panel</a:t>
            </a:r>
            <a:endParaRPr sz="12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18"/>
          <p:cNvCxnSpPr/>
          <p:nvPr/>
        </p:nvCxnSpPr>
        <p:spPr>
          <a:xfrm>
            <a:off x="411480" y="4766310"/>
            <a:ext cx="8318754" cy="0"/>
          </a:xfrm>
          <a:prstGeom prst="straightConnector1">
            <a:avLst/>
          </a:prstGeom>
          <a:noFill/>
          <a:ln w="19050" cap="flat" cmpd="sng">
            <a:solidFill>
              <a:srgbClr val="DDDDE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52" name="Google Shape;152;p18" descr="/home/claude/microcraft/pix/b5bf17b39e31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1480" y="4848606"/>
            <a:ext cx="2929346" cy="89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78724" y="4834890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98180" y="4834890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7636" y="4834890"/>
            <a:ext cx="137160" cy="137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190" y="308610"/>
            <a:ext cx="597231" cy="425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/home/claude/microcraft/pix/99cf42d66c1c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97615" y="411480"/>
            <a:ext cx="1032619" cy="116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/home/claude/microcraft/pix/5a80c36453b6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1480" y="994410"/>
            <a:ext cx="3869872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/>
          <p:nvPr/>
        </p:nvSpPr>
        <p:spPr>
          <a:xfrm>
            <a:off x="411480" y="2040255"/>
            <a:ext cx="3806190" cy="2468880"/>
          </a:xfrm>
          <a:prstGeom prst="rect">
            <a:avLst/>
          </a:prstGeom>
          <a:solidFill>
            <a:srgbClr val="F4F4F6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635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lvl="0" algn="ctr"/>
            <a:r>
              <a:rPr lang="en-IN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Sofascore and FotMob show live stats. ESPN and Sky Sports have commentators. Wyscout and StatsBomb serve elite clubs at $10k+/year. None combine real-time ML prediction + AI tactical analysis + live visualization in one accessible platform.</a:t>
            </a:r>
            <a:endParaRPr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411480" y="1954530"/>
            <a:ext cx="3806190" cy="480060"/>
          </a:xfrm>
          <a:prstGeom prst="rect">
            <a:avLst/>
          </a:prstGeom>
          <a:solidFill>
            <a:srgbClr val="262425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411480" y="1954530"/>
            <a:ext cx="380619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EXISTS TODAY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651510" y="2606040"/>
            <a:ext cx="332613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425"/>
              </a:buClr>
              <a:buSzPts val="1100"/>
              <a:buFont typeface="Calibri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4924044" y="1954530"/>
            <a:ext cx="3806190" cy="246888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635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4924044" y="1954530"/>
            <a:ext cx="3806190" cy="480060"/>
          </a:xfrm>
          <a:prstGeom prst="rect">
            <a:avLst/>
          </a:prstGeom>
          <a:solidFill>
            <a:srgbClr val="2F6F3A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4924044" y="1954530"/>
            <a:ext cx="380619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NOVELTY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5164074" y="2606040"/>
            <a:ext cx="332613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lnSpc>
                <a:spcPct val="120000"/>
              </a:lnSpc>
              <a:buClr>
                <a:srgbClr val="262425"/>
              </a:buClr>
              <a:buSzPts val="1100"/>
            </a:pPr>
            <a:r>
              <a:rPr lang="en-IN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Momentum Score our original invented metric no competitor tracks. Plus an AI analyst with switchable personalities (Broadcast / Tactical / Coach / Unhinged Fan) that explains </a:t>
            </a:r>
            <a:r>
              <a:rPr lang="en-IN" b="1" i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</a:t>
            </a:r>
            <a:r>
              <a:rPr lang="en-IN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game is shifting, not just what the numbers say.</a:t>
            </a:r>
            <a:endParaRPr b="1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4238244" y="2811780"/>
            <a:ext cx="665226" cy="665226"/>
          </a:xfrm>
          <a:prstGeom prst="ellipse">
            <a:avLst/>
          </a:prstGeom>
          <a:solidFill>
            <a:srgbClr val="EBB931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9" descr="/home/claude/microcraft/pix/745dd671b176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35725" y="3031236"/>
            <a:ext cx="470263" cy="219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9"/>
          <p:cNvCxnSpPr/>
          <p:nvPr/>
        </p:nvCxnSpPr>
        <p:spPr>
          <a:xfrm>
            <a:off x="411480" y="4766310"/>
            <a:ext cx="8318754" cy="0"/>
          </a:xfrm>
          <a:prstGeom prst="straightConnector1">
            <a:avLst/>
          </a:prstGeom>
          <a:noFill/>
          <a:ln w="19050" cap="flat" cmpd="sng">
            <a:solidFill>
              <a:srgbClr val="DDDDE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7" name="Google Shape;177;p19" descr="/home/claude/microcraft/pix/fbf6c5d7b5da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1480" y="4848606"/>
            <a:ext cx="3031236" cy="89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78724" y="4834890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98180" y="4834890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7636" y="4834890"/>
            <a:ext cx="137160" cy="137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190" y="308610"/>
            <a:ext cx="597231" cy="425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/home/claude/microcraft/pix/3248948d8a64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97615" y="411480"/>
            <a:ext cx="1032619" cy="116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/home/claude/microcraft/pix/904bd84b8a60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1480" y="994410"/>
            <a:ext cx="2758440" cy="54178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/>
          <p:nvPr/>
        </p:nvSpPr>
        <p:spPr>
          <a:xfrm>
            <a:off x="411480" y="1988820"/>
            <a:ext cx="4032504" cy="6858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635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62356" y="2119122"/>
            <a:ext cx="425196" cy="425196"/>
          </a:xfrm>
          <a:prstGeom prst="rect">
            <a:avLst/>
          </a:prstGeom>
          <a:solidFill>
            <a:srgbClr val="2570BD"/>
          </a:solidFill>
          <a:ln w="3175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2" name="Google Shape;192;p2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5899" y="2212665"/>
            <a:ext cx="238110" cy="23811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/>
          <p:nvPr/>
        </p:nvSpPr>
        <p:spPr>
          <a:xfrm>
            <a:off x="1131570" y="2077974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425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262425"/>
                </a:solidFill>
                <a:latin typeface="Arial"/>
                <a:ea typeface="Arial"/>
                <a:cs typeface="Arial"/>
                <a:sym typeface="Arial"/>
              </a:rPr>
              <a:t>FRAMEWORK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1131570" y="2331720"/>
            <a:ext cx="318897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6E6E74"/>
              </a:buClr>
              <a:buSzPts val="900"/>
            </a:pPr>
            <a:r>
              <a:rPr lang="en-IN" sz="11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Next.js 14 + TypeScript frontend, FastAPI backend</a:t>
            </a:r>
            <a:endParaRPr sz="11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11480" y="2811780"/>
            <a:ext cx="4032504" cy="6858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635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62356" y="2942082"/>
            <a:ext cx="425196" cy="425196"/>
          </a:xfrm>
          <a:prstGeom prst="rect">
            <a:avLst/>
          </a:prstGeom>
          <a:solidFill>
            <a:srgbClr val="2F6F3A"/>
          </a:solidFill>
          <a:ln w="3175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7" name="Google Shape;197;p2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5899" y="3035625"/>
            <a:ext cx="238110" cy="23811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/>
          <p:nvPr/>
        </p:nvSpPr>
        <p:spPr>
          <a:xfrm>
            <a:off x="1131570" y="2900934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425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262425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1131570" y="3154680"/>
            <a:ext cx="318897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6E6E74"/>
              </a:buClr>
              <a:buSzPts val="900"/>
            </a:pPr>
            <a:r>
              <a:rPr lang="en-IN" sz="9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Firebase Firestore for session data, match cache</a:t>
            </a:r>
            <a:endParaRPr sz="9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377190" y="3627882"/>
            <a:ext cx="4032504" cy="6858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635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62356" y="3765042"/>
            <a:ext cx="425196" cy="425196"/>
          </a:xfrm>
          <a:prstGeom prst="rect">
            <a:avLst/>
          </a:prstGeom>
          <a:solidFill>
            <a:srgbClr val="EA4E25"/>
          </a:solidFill>
          <a:ln w="3175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2" name="Google Shape;202;p20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5899" y="3858585"/>
            <a:ext cx="238110" cy="23811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/>
          <p:nvPr/>
        </p:nvSpPr>
        <p:spPr>
          <a:xfrm>
            <a:off x="1131570" y="3723894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425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262425"/>
                </a:solidFill>
                <a:latin typeface="Arial"/>
                <a:ea typeface="Arial"/>
                <a:cs typeface="Arial"/>
                <a:sym typeface="Arial"/>
              </a:rPr>
              <a:t>APIs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1131570" y="3977640"/>
            <a:ext cx="318897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6E6E74"/>
              </a:buClr>
              <a:buSzPts val="900"/>
            </a:pPr>
            <a:r>
              <a:rPr lang="en-IN" sz="11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API-Football (live data), Google Gemini API (AI analysis)</a:t>
            </a:r>
            <a:endParaRPr sz="11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4697730" y="1988820"/>
            <a:ext cx="4032504" cy="6858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635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4848606" y="2119122"/>
            <a:ext cx="425196" cy="425196"/>
          </a:xfrm>
          <a:prstGeom prst="rect">
            <a:avLst/>
          </a:prstGeom>
          <a:solidFill>
            <a:srgbClr val="EBB931"/>
          </a:solidFill>
          <a:ln w="3175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20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42149" y="2212665"/>
            <a:ext cx="238110" cy="23811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/>
          <p:nvPr/>
        </p:nvSpPr>
        <p:spPr>
          <a:xfrm>
            <a:off x="5417820" y="2077974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425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262425"/>
                </a:solidFill>
                <a:latin typeface="Arial"/>
                <a:ea typeface="Arial"/>
                <a:cs typeface="Arial"/>
                <a:sym typeface="Arial"/>
              </a:rPr>
              <a:t>ML / AI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5417820" y="2331720"/>
            <a:ext cx="318897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6E6E74"/>
              </a:buClr>
              <a:buSzPts val="900"/>
            </a:pPr>
            <a:r>
              <a:rPr lang="en-IN" sz="11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 model trained on FIFA World Cup + historical match data (Kaggle), Gemini 1.5 Flash for commentary</a:t>
            </a:r>
            <a:endParaRPr sz="11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4697730" y="2811780"/>
            <a:ext cx="4032504" cy="6858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635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4848606" y="2942082"/>
            <a:ext cx="425196" cy="425196"/>
          </a:xfrm>
          <a:prstGeom prst="rect">
            <a:avLst/>
          </a:prstGeom>
          <a:solidFill>
            <a:srgbClr val="262425"/>
          </a:solidFill>
          <a:ln w="3175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2" name="Google Shape;212;p20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42149" y="3035625"/>
            <a:ext cx="238110" cy="23811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/>
          <p:nvPr/>
        </p:nvSpPr>
        <p:spPr>
          <a:xfrm>
            <a:off x="5417820" y="2900934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425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262425"/>
                </a:solidFill>
                <a:latin typeface="Arial"/>
                <a:ea typeface="Arial"/>
                <a:cs typeface="Arial"/>
                <a:sym typeface="Arial"/>
              </a:rPr>
              <a:t>SKY'S THE LIMIT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5417820" y="3154680"/>
            <a:ext cx="318897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6E6E74"/>
              </a:buClr>
              <a:buSzPts val="900"/>
            </a:pPr>
            <a:r>
              <a:rPr lang="en-IN" sz="11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Momentum Pulse Ring SVG, interactive pitch visualization, Player DNA cards with radar charts</a:t>
            </a:r>
            <a:endParaRPr sz="11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215" name="Google Shape;215;p20"/>
          <p:cNvCxnSpPr/>
          <p:nvPr/>
        </p:nvCxnSpPr>
        <p:spPr>
          <a:xfrm>
            <a:off x="411480" y="4766310"/>
            <a:ext cx="8318754" cy="0"/>
          </a:xfrm>
          <a:prstGeom prst="straightConnector1">
            <a:avLst/>
          </a:prstGeom>
          <a:noFill/>
          <a:ln w="19050" cap="flat" cmpd="sng">
            <a:solidFill>
              <a:srgbClr val="DDDDE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16" name="Google Shape;216;p20" descr="/home/claude/microcraft/pix/5fe51280ecb6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11480" y="4848606"/>
            <a:ext cx="2419895" cy="89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078724" y="4834890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98180" y="4834890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517636" y="4834890"/>
            <a:ext cx="137160" cy="137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1" descr="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190" y="308610"/>
            <a:ext cx="597231" cy="425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 descr="/home/claude/microcraft/pix/2883da159723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47719" y="411480"/>
            <a:ext cx="1182515" cy="116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/home/claude/microcraft/pix/ac223dbbb9e9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1480" y="994410"/>
            <a:ext cx="1861457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/>
          <p:nvPr/>
        </p:nvSpPr>
        <p:spPr>
          <a:xfrm>
            <a:off x="425196" y="1474470"/>
            <a:ext cx="6172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74"/>
              </a:buClr>
              <a:buSzPts val="1200"/>
              <a:buFont typeface="Calibri"/>
              <a:buNone/>
            </a:pPr>
            <a:r>
              <a:rPr lang="en" sz="1200" b="0" i="1" u="none" strike="noStrike" cap="none">
                <a:solidFill>
                  <a:srgbClr val="6E6E74"/>
                </a:solidFill>
                <a:latin typeface="Calibri"/>
                <a:ea typeface="Calibri"/>
                <a:cs typeface="Calibri"/>
                <a:sym typeface="Calibri"/>
              </a:rPr>
              <a:t>Plug in and play it yourself.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411480" y="1988820"/>
            <a:ext cx="5212080" cy="2400300"/>
          </a:xfrm>
          <a:prstGeom prst="rect">
            <a:avLst/>
          </a:prstGeom>
          <a:solidFill>
            <a:srgbClr val="262425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762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0" name="Google Shape;230;p21"/>
          <p:cNvSpPr/>
          <p:nvPr/>
        </p:nvSpPr>
        <p:spPr>
          <a:xfrm>
            <a:off x="685800" y="2263140"/>
            <a:ext cx="685800" cy="685800"/>
          </a:xfrm>
          <a:prstGeom prst="rect">
            <a:avLst/>
          </a:prstGeom>
          <a:solidFill>
            <a:srgbClr val="EA4E25"/>
          </a:solidFill>
          <a:ln w="3175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1" name="Google Shape;231;p2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6676" y="2414016"/>
            <a:ext cx="384048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/home/claude/microcraft/pix/b3a6e5ef0657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77340" y="2400300"/>
            <a:ext cx="1197211" cy="178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/home/claude/microcraft/pix/42c6c2f772b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77340" y="2708910"/>
            <a:ext cx="425196" cy="9601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/>
          <p:nvPr/>
        </p:nvSpPr>
        <p:spPr>
          <a:xfrm>
            <a:off x="685800" y="3257550"/>
            <a:ext cx="4732020" cy="65151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2F6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5" name="Google Shape;235;p2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7250" y="3408426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/>
          <p:nvPr/>
        </p:nvSpPr>
        <p:spPr>
          <a:xfrm>
            <a:off x="1303020" y="3230118"/>
            <a:ext cx="4491990" cy="555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425"/>
              </a:buClr>
              <a:buSzPts val="1400"/>
              <a:buFont typeface="Arial"/>
              <a:buNone/>
            </a:pPr>
            <a:endParaRPr b="1" dirty="0">
              <a:solidFill>
                <a:srgbClr val="262425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425"/>
              </a:buClr>
              <a:buSzPts val="1400"/>
              <a:buFont typeface="Arial"/>
              <a:buNone/>
            </a:pPr>
            <a:endParaRPr b="1" dirty="0">
              <a:solidFill>
                <a:srgbClr val="262425"/>
              </a:solidFill>
            </a:endParaRPr>
          </a:p>
          <a:p>
            <a:pPr lvl="0">
              <a:buClr>
                <a:srgbClr val="262425"/>
              </a:buClr>
              <a:buSzPts val="1400"/>
            </a:pPr>
            <a:r>
              <a:rPr lang="en-IN" b="1" dirty="0">
                <a:solidFill>
                  <a:srgbClr val="262425"/>
                </a:solidFill>
              </a:rPr>
              <a:t>https://github.com/magnusinst84-sudo/OFFSIDE</a:t>
            </a:r>
            <a:r>
              <a:rPr lang="en" sz="1400" b="1" i="0" u="none" strike="noStrike" cap="none" dirty="0">
                <a:solidFill>
                  <a:srgbClr val="2624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dirty="0">
              <a:solidFill>
                <a:srgbClr val="262425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425"/>
              </a:buClr>
              <a:buSzPts val="1400"/>
              <a:buFont typeface="Arial"/>
              <a:buNone/>
            </a:pPr>
            <a:endParaRPr b="1" dirty="0">
              <a:solidFill>
                <a:srgbClr val="262425"/>
              </a:solidFill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5863590" y="1988820"/>
            <a:ext cx="2880300" cy="1131600"/>
          </a:xfrm>
          <a:prstGeom prst="rect">
            <a:avLst/>
          </a:prstGeom>
          <a:solidFill>
            <a:srgbClr val="2F6F3A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635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6069330" y="2194560"/>
            <a:ext cx="411480" cy="411480"/>
          </a:xfrm>
          <a:prstGeom prst="rect">
            <a:avLst/>
          </a:prstGeom>
          <a:solidFill>
            <a:srgbClr val="2F6F3A"/>
          </a:solidFill>
          <a:ln w="3175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0" name="Google Shape;240;p2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159856" y="2285086"/>
            <a:ext cx="230428" cy="23042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/>
          <p:nvPr/>
        </p:nvSpPr>
        <p:spPr>
          <a:xfrm>
            <a:off x="6069330" y="2194560"/>
            <a:ext cx="411480" cy="411480"/>
          </a:xfrm>
          <a:prstGeom prst="rect">
            <a:avLst/>
          </a:prstGeom>
          <a:solidFill>
            <a:srgbClr val="1F5A2B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" name="Google Shape;242;p2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151626" y="2276856"/>
            <a:ext cx="246888" cy="246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/home/claude/microcraft/pix/4a17b9385809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17970" y="2276856"/>
            <a:ext cx="891540" cy="8915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/>
          <p:nvPr/>
        </p:nvSpPr>
        <p:spPr>
          <a:xfrm>
            <a:off x="6069330" y="2571750"/>
            <a:ext cx="2537460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IN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YET TO BE  DEPLOYED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5863590" y="3257550"/>
            <a:ext cx="2880360" cy="113157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26242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63500" dir="2700000" algn="bl" rotWithShape="0">
              <a:srgbClr val="262425"/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6" name="Google Shape;246;p21" descr="/home/claude/microcraft/pix/acf580daa5b2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069330" y="3429000"/>
            <a:ext cx="904277" cy="8915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/>
          <p:nvPr/>
        </p:nvSpPr>
        <p:spPr>
          <a:xfrm>
            <a:off x="6069330" y="3669030"/>
            <a:ext cx="2537460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425"/>
              </a:buClr>
              <a:buSzPts val="1100"/>
              <a:buFont typeface="Arial"/>
              <a:buNone/>
            </a:pPr>
            <a:r>
              <a:rPr lang="en" sz="1100" b="1" i="0" u="none" strike="noStrike" cap="none" dirty="0">
                <a:solidFill>
                  <a:srgbClr val="2624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 b="1" i="0" u="none" strike="noStrike" cap="none" dirty="0">
                <a:solidFill>
                  <a:srgbClr val="262425"/>
                </a:solidFill>
                <a:latin typeface="Arial"/>
                <a:ea typeface="Arial"/>
                <a:cs typeface="Arial"/>
                <a:sym typeface="Arial"/>
                <a:hlinkClick r:id="rId14"/>
              </a:rPr>
              <a:t>tanmay.nair2025@vitstudent.ac.in</a:t>
            </a:r>
            <a:r>
              <a:rPr lang="en" sz="1100" b="1" i="0" u="none" strike="noStrike" cap="none" dirty="0">
                <a:solidFill>
                  <a:srgbClr val="2624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425"/>
              </a:buClr>
              <a:buSzPts val="1100"/>
              <a:buFont typeface="Arial"/>
              <a:buNone/>
            </a:pPr>
            <a:r>
              <a:rPr lang="en-IN" sz="1100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  <a:hlinkClick r:id="rId15"/>
              </a:rPr>
              <a:t>tanmaynair04@gmail.com</a:t>
            </a:r>
            <a:endParaRPr lang="en-IN" sz="1100" b="1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425"/>
              </a:buClr>
              <a:buSzPts val="1100"/>
              <a:buFont typeface="Arial"/>
              <a:buNone/>
            </a:pPr>
            <a:r>
              <a:rPr lang="en-IN" sz="1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IN" sz="1100" b="1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91-9321453021</a:t>
            </a:r>
            <a:endParaRPr sz="1100" b="1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21"/>
          <p:cNvCxnSpPr/>
          <p:nvPr/>
        </p:nvCxnSpPr>
        <p:spPr>
          <a:xfrm>
            <a:off x="411480" y="4766310"/>
            <a:ext cx="8318754" cy="0"/>
          </a:xfrm>
          <a:prstGeom prst="straightConnector1">
            <a:avLst/>
          </a:prstGeom>
          <a:noFill/>
          <a:ln w="19050" cap="flat" cmpd="sng">
            <a:solidFill>
              <a:srgbClr val="DDDDE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49" name="Google Shape;249;p21" descr="/home/claude/microcraft/pix/79a485765051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11480" y="4848606"/>
            <a:ext cx="3043973" cy="89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078724" y="4834890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298180" y="4834890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517636" y="4834890"/>
            <a:ext cx="137160" cy="137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415</Words>
  <Application>Microsoft Office PowerPoint</Application>
  <PresentationFormat>On-screen Show (16:9)</PresentationFormat>
  <Paragraphs>46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TANMAY</dc:creator>
  <cp:lastModifiedBy>Tanmay Nair</cp:lastModifiedBy>
  <cp:revision>4</cp:revision>
  <dcterms:modified xsi:type="dcterms:W3CDTF">2026-06-29T12:45:51Z</dcterms:modified>
</cp:coreProperties>
</file>